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ea48f12-9caa-fa99-a9a1-08e715c4da6c}">
          <p14:sldIdLst>
            <p14:sldId id="256"/>
          </p14:sldIdLst>
        </p14:section>
        <p14:section name="El kit" id="{dbbce1ca-81a8-15c1-48c1-ab8bccfed1d4}">
          <p14:sldIdLst>
            <p14:sldId id="257"/>
            <p14:sldId id="258"/>
          </p14:sldIdLst>
        </p14:section>
        <p14:section name="Las herramientas" id="{6f1e2f9f-df36-6682-1fbe-cc750c9c22c8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ierre" id="{36bf7151-83e5-1079-be89-dad4f1130c0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kit de herramientas para proveedores de datos: qué contiene, cómo se usa y dónde está cada archivo.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ficha de metadatos desapareció: los datos del proveedor se llenan en la aplicación o en la plantilla de datos crudos. Las dos plantillas se unieron en un solo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3EF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B3C5D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Kit de herramientas para proveedores de datos · MigraMar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Kit de herramientas para proveedores de datos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F"/>
                </a:solidFill>
              </a:rPr>
              <a:t>Manual + 4 herramientas para preparar, calcular y entregar los indicadores del Plan Regional de Monitoreo de Especies Prioritarias del PET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Versión 27 de octubre de 2026 · Lucía Vargas Araya</a:t>
            </a:r>
            <a:endParaRPr lang="en-US" sz="2000" dirty="0"/>
          </a:p>
        </p:txBody>
      </p:sp>
      <p:sp>
        <p:nvSpPr>
          <p:cNvPr id="4" name="panel logos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logo logo_image3.png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35" y="4983480"/>
            <a:ext cx="2106827" cy="914400"/>
          </a:xfrm>
          <a:prstGeom prst="rect">
            <a:avLst/>
          </a:prstGeom>
        </p:spPr>
      </p:pic>
      <p:pic>
        <p:nvPicPr>
          <p:cNvPr id="6" name="logo logo_image1.png" descr="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82" y="4983480"/>
            <a:ext cx="1578576" cy="914400"/>
          </a:xfrm>
          <a:prstGeom prst="rect">
            <a:avLst/>
          </a:prstGeom>
        </p:spPr>
      </p:pic>
      <p:pic>
        <p:nvPicPr>
          <p:cNvPr id="7" name="logo logo_image4.png" descr="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777" y="4983480"/>
            <a:ext cx="3015629" cy="914400"/>
          </a:xfrm>
          <a:prstGeom prst="rect">
            <a:avLst/>
          </a:prstGeom>
        </p:spPr>
      </p:pic>
      <p:pic>
        <p:nvPicPr>
          <p:cNvPr id="8" name="logo logo_image2.png" descr="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327" y="4983480"/>
            <a:ext cx="2138659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Qué trae el kit: un Manual y 4 herramientas</a:t>
            </a:r>
            <a:endParaRPr lang="en-US" sz="3200" dirty="0"/>
          </a:p>
        </p:txBody>
      </p:sp>
      <p:sp>
        <p:nvSpPr>
          <p:cNvPr id="3" name="tarjeta manual"/>
          <p:cNvSpPr/>
          <p:nvPr/>
        </p:nvSpPr>
        <p:spPr>
          <a:xfrm>
            <a:off x="5486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Manual para proveedores de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F"/>
                </a:solidFill>
              </a:rPr>
              <a:t>El documento principal: los pasos, en orden, para preparar y entregar sus datos, y qué herramienta usar en cada paso.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0_manual</a:t>
            </a:r>
            <a:endParaRPr lang="en-US" sz="1300" dirty="0"/>
          </a:p>
        </p:txBody>
      </p:sp>
      <p:sp>
        <p:nvSpPr>
          <p:cNvPr id="7" name="tarjeta H1"/>
          <p:cNvSpPr/>
          <p:nvPr/>
        </p:nvSpPr>
        <p:spPr>
          <a:xfrm>
            <a:off x="4572000" y="1371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8" name="número 1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Herramienta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Referencia metodológica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Qué estadístico, dispersión, interpretación y línea base usa cada indicador.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1_referencia-metodologica</a:t>
            </a:r>
            <a:endParaRPr lang="en-US" sz="1100" dirty="0"/>
          </a:p>
        </p:txBody>
      </p:sp>
      <p:sp>
        <p:nvSpPr>
          <p:cNvPr id="14" name="tarjeta H2"/>
          <p:cNvSpPr/>
          <p:nvPr/>
        </p:nvSpPr>
        <p:spPr>
          <a:xfrm>
            <a:off x="8138160" y="1371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5" name="número 2"/>
          <p:cNvSpPr/>
          <p:nvPr/>
        </p:nvSpPr>
        <p:spPr>
          <a:xfrm>
            <a:off x="8412480" y="164592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Herramienta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Plantillas de datos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Un solo Excel: datos crudos (Ruta A) y datos calculados (Ruta B), cada uno con su diccionario.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2_plantillas-datos</a:t>
            </a:r>
            <a:endParaRPr lang="en-US" sz="1100" dirty="0"/>
          </a:p>
        </p:txBody>
      </p:sp>
      <p:sp>
        <p:nvSpPr>
          <p:cNvPr id="21" name="tarjeta H3"/>
          <p:cNvSpPr/>
          <p:nvPr/>
        </p:nvSpPr>
        <p:spPr>
          <a:xfrm>
            <a:off x="4572000" y="38404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2" name="número 3"/>
          <p:cNvSpPr/>
          <p:nvPr/>
        </p:nvSpPr>
        <p:spPr>
          <a:xfrm>
            <a:off x="4846320" y="4114800"/>
            <a:ext cx="502920" cy="502920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Herramienta 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Aplicación de cálculo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800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Calcula el indicador anual y el AVP, y genera el .csv y un reporte de revisión en PDF.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3_aplicacion-calculo</a:t>
            </a:r>
            <a:endParaRPr lang="en-US" sz="1100" dirty="0"/>
          </a:p>
        </p:txBody>
      </p:sp>
      <p:sp>
        <p:nvSpPr>
          <p:cNvPr id="28" name="tarjeta H4"/>
          <p:cNvSpPr/>
          <p:nvPr/>
        </p:nvSpPr>
        <p:spPr>
          <a:xfrm>
            <a:off x="8138160" y="38404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9" name="número 4"/>
          <p:cNvSpPr/>
          <p:nvPr/>
        </p:nvSpPr>
        <p:spPr>
          <a:xfrm>
            <a:off x="8412480" y="41148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Herramienta 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Catálogo de vocabulario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800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Nombres exactos de especies, indicadores, áreas y medidas de dispersión.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4_catalogo-vocabulario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Dos rutas para entregar sus datos</a:t>
            </a:r>
            <a:endParaRPr lang="en-US" sz="3200" dirty="0"/>
          </a:p>
        </p:txBody>
      </p:sp>
      <p:sp>
        <p:nvSpPr>
          <p:cNvPr id="3" name="tarjeta Ruta A · Datos crudos"/>
          <p:cNvSpPr/>
          <p:nvPr/>
        </p:nvSpPr>
        <p:spPr>
          <a:xfrm>
            <a:off x="548640" y="137160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3F6F8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4" name="etiqueta Ruta A · Datos crudos"/>
          <p:cNvSpPr/>
          <p:nvPr/>
        </p:nvSpPr>
        <p:spPr>
          <a:xfrm>
            <a:off x="868680" y="164592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Ruta A · Datos crudos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5D"/>
                </a:solidFill>
              </a:rPr>
              <a:t>MigraMar calcula el indicador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Entrega sus datos tal como los colectó, ya depurados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Indica qué columna es cada variable en la hoja diccionario_crudos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Herramientas: 1 · 2 · 4</a:t>
            </a:r>
            <a:endParaRPr lang="en-US" sz="1600" dirty="0"/>
          </a:p>
        </p:txBody>
      </p:sp>
      <p:sp>
        <p:nvSpPr>
          <p:cNvPr id="8" name="tarjeta Ruta B · Datos calculados"/>
          <p:cNvSpPr/>
          <p:nvPr/>
        </p:nvSpPr>
        <p:spPr>
          <a:xfrm>
            <a:off x="6172200" y="137160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3F6F8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9" name="etiqueta Ruta B · Datos calculados"/>
          <p:cNvSpPr/>
          <p:nvPr/>
        </p:nvSpPr>
        <p:spPr>
          <a:xfrm>
            <a:off x="6492240" y="164592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Ruta B · Datos calculados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5D"/>
                </a:solidFill>
              </a:rPr>
              <a:t>Usted calcula el indicador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26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Usa la aplicación de cálculo (o su propio método)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Entrega el .csv con el formato de la hoja datos_calculados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Herramientas: 1 · 2 · 3 · 4</a:t>
            </a:r>
            <a:endParaRPr lang="en-US" sz="1600" dirty="0"/>
          </a:p>
        </p:txBody>
      </p:sp>
      <p:sp>
        <p:nvSpPr>
          <p:cNvPr id="13" name="nota rutas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C5D"/>
                </a:solidFill>
              </a:rPr>
              <a:t>En las dos rutas, antes de publicar en Marine Manager se comparte un reporte de revisión en PDF con el proveedor.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El Manual: 11 pasos en 4 etapas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Antes de empezar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Ubique su carpeta de recepción, elija su ruta y descargue las herramientas.</a:t>
            </a:r>
            <a:endParaRPr lang="en-US" sz="1500" dirty="0"/>
          </a:p>
        </p:txBody>
      </p:sp>
      <p:sp>
        <p:nvSpPr>
          <p:cNvPr id="7" name="número 2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Prepare sus datos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00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Un archivo por indicador y área, con las columnas mínimas y revisado con la lista de control.</a:t>
            </a:r>
            <a:endParaRPr lang="en-US" sz="1500" dirty="0"/>
          </a:p>
        </p:txBody>
      </p:sp>
      <p:sp>
        <p:nvSpPr>
          <p:cNvPr id="11" name="número 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Nombre y organice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7880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Nombre el archivo como [indicador]_[área]_[tipo]_[fecha].csv y reúna lo demás.</a:t>
            </a:r>
            <a:endParaRPr lang="en-US" sz="1500" dirty="0"/>
          </a:p>
        </p:txBody>
      </p:sp>
      <p:sp>
        <p:nvSpPr>
          <p:cNvPr id="15" name="número 4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Entregue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3675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Súbalo a su carpeta, avise por correo y espere el acuse de recibido.</a:t>
            </a:r>
            <a:endParaRPr lang="en-US" sz="1500" dirty="0"/>
          </a:p>
        </p:txBody>
      </p:sp>
      <p:sp>
        <p:nvSpPr>
          <p:cNvPr id="19" name="Manual página 1 marco"/>
          <p:cNvSpPr/>
          <p:nvPr/>
        </p:nvSpPr>
        <p:spPr>
          <a:xfrm>
            <a:off x="6912864" y="2203704"/>
            <a:ext cx="2404872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Manual página 1" descr="Manual págin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240280"/>
            <a:ext cx="2331720" cy="3017520"/>
          </a:xfrm>
          <a:prstGeom prst="rect">
            <a:avLst/>
          </a:prstGeom>
        </p:spPr>
      </p:pic>
      <p:sp>
        <p:nvSpPr>
          <p:cNvPr id="21" name="Manual página 3 marco"/>
          <p:cNvSpPr/>
          <p:nvPr/>
        </p:nvSpPr>
        <p:spPr>
          <a:xfrm>
            <a:off x="9381744" y="2203704"/>
            <a:ext cx="2404872" cy="3090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Manual página 3" descr="Manual página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40280"/>
            <a:ext cx="233172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Herramienta 1 · Referencia metodológica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Parte 1 · Conceptos generales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Ámbito de Variación Permisible (AVP) y GAMM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Línea base de 5 o 10 años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Estadístico anual y su medida de dispersión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Interpretación A o B y categorías AVP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Parte 2 · Detalle por indicador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Los 40 indicadores, uno por fila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 actualiza con base en el indicators master</a:t>
            </a:r>
            <a:endParaRPr lang="en-US" sz="1500" dirty="0"/>
          </a:p>
        </p:txBody>
      </p:sp>
      <p:sp>
        <p:nvSpPr>
          <p:cNvPr id="7" name="Referencia metodológica, Parte 2 marco"/>
          <p:cNvSpPr/>
          <p:nvPr/>
        </p:nvSpPr>
        <p:spPr>
          <a:xfrm>
            <a:off x="5084064" y="1453296"/>
            <a:ext cx="6565392" cy="459148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Referencia metodológica, Parte 2" descr="Referencia metodológica, Part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89872"/>
            <a:ext cx="6492240" cy="45183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Herramienta 2 · Plantillas de datos en un solo Excel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52E"/>
                </a:solidFill>
              </a:rPr>
              <a:t>Ruta A · datos crudos</a:t>
            </a:r>
            <a:endParaRPr lang="en-US" sz="1800" dirty="0"/>
          </a:p>
        </p:txBody>
      </p:sp>
      <p:sp>
        <p:nvSpPr>
          <p:cNvPr id="4" name="etiqueta diccionario_crudos"/>
          <p:cNvSpPr/>
          <p:nvPr/>
        </p:nvSpPr>
        <p:spPr>
          <a:xfrm>
            <a:off x="548640" y="187452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diccionario_crudos</a:t>
            </a:r>
            <a:endParaRPr lang="en-US" sz="1400" dirty="0"/>
          </a:p>
        </p:txBody>
      </p:sp>
      <p:sp>
        <p:nvSpPr>
          <p:cNvPr id="6" name="etiqueta datos_crudos"/>
          <p:cNvSpPr/>
          <p:nvPr/>
        </p:nvSpPr>
        <p:spPr>
          <a:xfrm>
            <a:off x="3291840" y="187452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datos_crudos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Ruta B · datos calculados</a:t>
            </a:r>
            <a:endParaRPr lang="en-US" sz="1800" dirty="0"/>
          </a:p>
        </p:txBody>
      </p:sp>
      <p:sp>
        <p:nvSpPr>
          <p:cNvPr id="9" name="etiqueta diccionario_calculados"/>
          <p:cNvSpPr/>
          <p:nvPr/>
        </p:nvSpPr>
        <p:spPr>
          <a:xfrm>
            <a:off x="6217920" y="18745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diccionario_calculados</a:t>
            </a:r>
            <a:endParaRPr lang="en-US" sz="1400" dirty="0"/>
          </a:p>
        </p:txBody>
      </p:sp>
      <p:sp>
        <p:nvSpPr>
          <p:cNvPr id="11" name="etiqueta datos_calculados"/>
          <p:cNvSpPr/>
          <p:nvPr/>
        </p:nvSpPr>
        <p:spPr>
          <a:xfrm>
            <a:off x="9098280" y="1874520"/>
            <a:ext cx="251460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98280" y="1874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datos_calculados</a:t>
            </a:r>
            <a:endParaRPr lang="en-US" sz="1400" dirty="0"/>
          </a:p>
        </p:txBody>
      </p:sp>
      <p:sp>
        <p:nvSpPr>
          <p:cNvPr id="13" name="Hoja diccionario_crudos marco"/>
          <p:cNvSpPr/>
          <p:nvPr/>
        </p:nvSpPr>
        <p:spPr>
          <a:xfrm>
            <a:off x="543397" y="2615184"/>
            <a:ext cx="11074727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Hoja diccionario_crudos" descr="Hoja diccionario_cru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973" y="2651760"/>
            <a:ext cx="11001575" cy="2743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Sus columnas pueden tener otros nombres: en la última columna del diccionario se indica cuál es cuál. Los datos del proveedor (institución, página web y contacto) ya van aquí o en la aplicación.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Herramienta 3 · Aplicación de cálculo en 4 pasos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252728"/>
            <a:ext cx="384048" cy="384048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Datos: suba su .csv</a:t>
            </a:r>
            <a:endParaRPr lang="en-US" sz="1600" dirty="0"/>
          </a:p>
        </p:txBody>
      </p:sp>
      <p:sp>
        <p:nvSpPr>
          <p:cNvPr id="6" name="Captura paso 1 marco"/>
          <p:cNvSpPr/>
          <p:nvPr/>
        </p:nvSpPr>
        <p:spPr>
          <a:xfrm>
            <a:off x="1904446" y="1673352"/>
            <a:ext cx="3140548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Captura paso 1" descr="Captura 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022" y="1709928"/>
            <a:ext cx="3067396" cy="1874520"/>
          </a:xfrm>
          <a:prstGeom prst="rect">
            <a:avLst/>
          </a:prstGeom>
        </p:spPr>
      </p:pic>
      <p:sp>
        <p:nvSpPr>
          <p:cNvPr id="8" name="número 2"/>
          <p:cNvSpPr/>
          <p:nvPr/>
        </p:nvSpPr>
        <p:spPr>
          <a:xfrm>
            <a:off x="6172200" y="125272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Columnas: indique cuál es cuál</a:t>
            </a:r>
            <a:endParaRPr lang="en-US" sz="1600" dirty="0"/>
          </a:p>
        </p:txBody>
      </p:sp>
      <p:sp>
        <p:nvSpPr>
          <p:cNvPr id="11" name="Captura paso 2 marco"/>
          <p:cNvSpPr/>
          <p:nvPr/>
        </p:nvSpPr>
        <p:spPr>
          <a:xfrm>
            <a:off x="7528006" y="1673352"/>
            <a:ext cx="3140548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Captura paso 2" descr="Captura 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82" y="1709928"/>
            <a:ext cx="3067396" cy="1874520"/>
          </a:xfrm>
          <a:prstGeom prst="rect">
            <a:avLst/>
          </a:prstGeom>
        </p:spPr>
      </p:pic>
      <p:sp>
        <p:nvSpPr>
          <p:cNvPr id="13" name="número 3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E8552E"/>
          </a:solidFill>
          <a:ln w="12700">
            <a:solidFill>
              <a:srgbClr val="E855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36850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Indicador: elija de listas del catálogo</a:t>
            </a:r>
            <a:endParaRPr lang="en-US" sz="1600" dirty="0"/>
          </a:p>
        </p:txBody>
      </p:sp>
      <p:sp>
        <p:nvSpPr>
          <p:cNvPr id="16" name="Captura paso 3 marco"/>
          <p:cNvSpPr/>
          <p:nvPr/>
        </p:nvSpPr>
        <p:spPr>
          <a:xfrm>
            <a:off x="1904446" y="4123944"/>
            <a:ext cx="3140548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Captura paso 3" descr="Captura 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022" y="4160520"/>
            <a:ext cx="3067396" cy="1874520"/>
          </a:xfrm>
          <a:prstGeom prst="rect">
            <a:avLst/>
          </a:prstGeom>
        </p:spPr>
      </p:pic>
      <p:sp>
        <p:nvSpPr>
          <p:cNvPr id="18" name="número 4"/>
          <p:cNvSpPr/>
          <p:nvPr/>
        </p:nvSpPr>
        <p:spPr>
          <a:xfrm>
            <a:off x="6172200" y="37033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72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675120" y="36850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Resultados: calcule y descargue</a:t>
            </a:r>
            <a:endParaRPr lang="en-US" sz="1600" dirty="0"/>
          </a:p>
        </p:txBody>
      </p:sp>
      <p:sp>
        <p:nvSpPr>
          <p:cNvPr id="21" name="Captura paso 4 marco"/>
          <p:cNvSpPr/>
          <p:nvPr/>
        </p:nvSpPr>
        <p:spPr>
          <a:xfrm>
            <a:off x="7528006" y="4123944"/>
            <a:ext cx="3140548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Captura paso 4" descr="Captura pas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582" y="4160520"/>
            <a:ext cx="3067396" cy="18745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</a:rPr>
              <a:t>Por ahora se abre desde RStudio (app.R → Run App). Pendiente: publicarla en línea.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Sus columnas, sus nombres: solo indique cuál es cuál</a:t>
            </a:r>
            <a:endParaRPr lang="en-US" sz="3200" dirty="0"/>
          </a:p>
        </p:txBody>
      </p:sp>
      <p:sp>
        <p:nvSpPr>
          <p:cNvPr id="3" name="Figura de correspondencia de columnas marco"/>
          <p:cNvSpPr/>
          <p:nvPr/>
        </p:nvSpPr>
        <p:spPr>
          <a:xfrm>
            <a:off x="3216548" y="1243584"/>
            <a:ext cx="5728425" cy="5010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ura de correspondencia de columnas" descr="Figura de correspondencia de colum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3124" y="1280160"/>
            <a:ext cx="5655273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No hace falta renombrar ni borrar columnas.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8288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Es la Figura 1 del Manual.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Resultado: un .csv para Marine Manager y un reporte de revisión</a:t>
            </a:r>
            <a:endParaRPr lang="en-US" sz="3200" dirty="0"/>
          </a:p>
        </p:txBody>
      </p:sp>
      <p:sp>
        <p:nvSpPr>
          <p:cNvPr id="3" name="Tabla por año y texto para Marine Manager marco"/>
          <p:cNvSpPr/>
          <p:nvPr/>
        </p:nvSpPr>
        <p:spPr>
          <a:xfrm>
            <a:off x="512064" y="1379767"/>
            <a:ext cx="6108192" cy="28183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Tabla por año y texto para Marine Manager" descr="Tabla por año y texto para Marine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6343"/>
            <a:ext cx="6035040" cy="27451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Valor anual con su dispersión: observado;dispersión;predicho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Texto de especificaciones y fuente, en la columna comments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 guarda con tildes y ñ legibles en Excel</a:t>
            </a:r>
            <a:endParaRPr lang="en-US" sz="1500" dirty="0"/>
          </a:p>
        </p:txBody>
      </p:sp>
      <p:sp>
        <p:nvSpPr>
          <p:cNvPr id="6" name="Reporte de revisión, página 1 marco"/>
          <p:cNvSpPr/>
          <p:nvPr/>
        </p:nvSpPr>
        <p:spPr>
          <a:xfrm>
            <a:off x="7445918" y="1289304"/>
            <a:ext cx="3853365" cy="4965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Reporte de revisión, página 1" descr="Reporte de revisión, págin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494" y="1325880"/>
            <a:ext cx="3780213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</a:rPr>
              <a:t>Herramienta 4 · Catálogo de vocabulario</a:t>
            </a:r>
            <a:endParaRPr lang="en-US" sz="3200" dirty="0"/>
          </a:p>
        </p:txBody>
      </p:sp>
      <p:sp>
        <p:nvSpPr>
          <p:cNvPr id="3" name="etiqueta especie_id"/>
          <p:cNvSpPr/>
          <p:nvPr/>
        </p:nvSpPr>
        <p:spPr>
          <a:xfrm>
            <a:off x="548640" y="146304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especie_id</a:t>
            </a:r>
            <a:endParaRPr lang="en-US" sz="1400" dirty="0"/>
          </a:p>
        </p:txBody>
      </p:sp>
      <p:sp>
        <p:nvSpPr>
          <p:cNvPr id="5" name="etiqueta indicador_id"/>
          <p:cNvSpPr/>
          <p:nvPr/>
        </p:nvSpPr>
        <p:spPr>
          <a:xfrm>
            <a:off x="548640" y="201168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indicador_id</a:t>
            </a:r>
            <a:endParaRPr lang="en-US" sz="1400" dirty="0"/>
          </a:p>
        </p:txBody>
      </p:sp>
      <p:sp>
        <p:nvSpPr>
          <p:cNvPr id="7" name="etiqueta area_id"/>
          <p:cNvSpPr/>
          <p:nvPr/>
        </p:nvSpPr>
        <p:spPr>
          <a:xfrm>
            <a:off x="548640" y="256032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area_id</a:t>
            </a:r>
            <a:endParaRPr lang="en-US" sz="1400" dirty="0"/>
          </a:p>
        </p:txBody>
      </p:sp>
      <p:sp>
        <p:nvSpPr>
          <p:cNvPr id="9" name="etiqueta dispersion_id"/>
          <p:cNvSpPr/>
          <p:nvPr/>
        </p:nvSpPr>
        <p:spPr>
          <a:xfrm>
            <a:off x="548640" y="310896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dispersion_id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Nombres exactos para especie, indicador, área y medida de dispersión. La aplicación los muestra como listas, así no hay errores de escritura.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</a:rPr>
              <a:t>Hay una copia junto a la aplicación: al actualizar el catálogo, actualice las dos.</a:t>
            </a:r>
            <a:endParaRPr lang="en-US" sz="1300" dirty="0"/>
          </a:p>
        </p:txBody>
      </p:sp>
      <p:sp>
        <p:nvSpPr>
          <p:cNvPr id="13" name="Hoja indicador_id del catálogo marco"/>
          <p:cNvSpPr/>
          <p:nvPr/>
        </p:nvSpPr>
        <p:spPr>
          <a:xfrm>
            <a:off x="4352544" y="1704940"/>
            <a:ext cx="7296912" cy="408819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Hoja indicador_id del catálogo" descr="Hoja indicador_id del catá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741516"/>
            <a:ext cx="7223760" cy="40150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Dónde está cada cosa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F"/>
                </a:solidFill>
              </a:rPr>
              <a:t>Todo el kit está en el sitio web para proveedores de datos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Bienvenida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3520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Presentación y metodología del Plan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87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Manual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40873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Los 11 pasos para preparar y entregar sus datos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54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Referencia metodológica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46542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Herramienta 1: detalle por indicador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2212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Herramientas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52212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Descarga de las Herramientas 1 a 4 y del código en 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788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Aplicación en línea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57881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Herramienta 3, sin instalar nada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t proveedores MigraMar">
  <a:themeElements>
    <a:clrScheme name="Kit proveedores MigraMar">
      <a:dk1>
        <a:srgbClr val="1F2937"/>
      </a:dk1>
      <a:lt1>
        <a:srgbClr val="FFFFFF"/>
      </a:lt1>
      <a:dk2>
        <a:srgbClr val="0B3C5D"/>
      </a:dk2>
      <a:lt2>
        <a:srgbClr val="E8F1F7"/>
      </a:lt2>
      <a:accent1>
        <a:srgbClr val="0B3C5D"/>
      </a:accent1>
      <a:accent2>
        <a:srgbClr val="0F766E"/>
      </a:accent2>
      <a:accent3>
        <a:srgbClr val="E8552E"/>
      </a:accent3>
      <a:accent4>
        <a:srgbClr val="5B6B7A"/>
      </a:accent4>
      <a:accent5>
        <a:srgbClr val="CFE3EF"/>
      </a:accent5>
      <a:accent6>
        <a:srgbClr val="F3F6F8"/>
      </a:accent6>
      <a:hlink>
        <a:srgbClr val="0F766E"/>
      </a:hlink>
      <a:folHlink>
        <a:srgbClr val="5B6B7A"/>
      </a:folHlink>
    </a:clrScheme>
    <a:fontScheme name="Kit proveedores MigraM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02E21C83A9148902CA1A70CF30D2B" ma:contentTypeVersion="16" ma:contentTypeDescription="Create a new document." ma:contentTypeScope="" ma:versionID="1ac23a957c34e8b2e2f8d2cebbfcbd28">
  <xsd:schema xmlns:xsd="http://www.w3.org/2001/XMLSchema" xmlns:xs="http://www.w3.org/2001/XMLSchema" xmlns:p="http://schemas.microsoft.com/office/2006/metadata/properties" xmlns:ns2="b9dce83d-72ee-4293-97e6-e06b8df7add9" xmlns:ns3="afe6e3d9-18ce-4b1f-93b5-fcdc7ff53cf9" targetNamespace="http://schemas.microsoft.com/office/2006/metadata/properties" ma:root="true" ma:fieldsID="6232dc3ed41a186b55d58cc892e67c0c" ns2:_="" ns3:_="">
    <xsd:import namespace="b9dce83d-72ee-4293-97e6-e06b8df7add9"/>
    <xsd:import namespace="afe6e3d9-18ce-4b1f-93b5-fcdc7ff53cf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ce83d-72ee-4293-97e6-e06b8df7add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4f4f4c5e-03e4-4e4c-a615-0302a68af7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6e3d9-18ce-4b1f-93b5-fcdc7ff53cf9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8bf15cf-199b-4399-b990-0ae65e2bba22}" ma:internalName="TaxCatchAll" ma:showField="CatchAllData" ma:web="afe6e3d9-18ce-4b1f-93b5-fcdc7ff53c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e6e3d9-18ce-4b1f-93b5-fcdc7ff53cf9" xsi:nil="true"/>
    <lcf76f155ced4ddcb4097134ff3c332f xmlns="b9dce83d-72ee-4293-97e6-e06b8df7ad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A5E2D1-1DCB-4B58-ACB2-9DB8F6E5085D}"/>
</file>

<file path=customXml/itemProps2.xml><?xml version="1.0" encoding="utf-8"?>
<ds:datastoreItem xmlns:ds="http://schemas.openxmlformats.org/officeDocument/2006/customXml" ds:itemID="{BFE771F0-9189-4B04-A8A4-66481737751F}"/>
</file>

<file path=customXml/itemProps3.xml><?xml version="1.0" encoding="utf-8"?>
<ds:datastoreItem xmlns:ds="http://schemas.openxmlformats.org/officeDocument/2006/customXml" ds:itemID="{202C8D49-415C-4E2B-AFAB-DF0829E8F44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herramientas para proveedores de datos</dc:title>
  <dc:subject>PptxGenJS Presentation</dc:subject>
  <dc:creator>Lucía Vargas Araya · MigraMar</dc:creator>
  <cp:lastModifiedBy>Lucía Vargas Araya · MigraMar</cp:lastModifiedBy>
  <cp:revision>1</cp:revision>
  <dcterms:created xsi:type="dcterms:W3CDTF">2026-10-27T16:24:12Z</dcterms:created>
  <dcterms:modified xsi:type="dcterms:W3CDTF">2026-10-27T16:24:12Z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0x01010001E02E21C83A9148902CA1A70CF30D2B</vt:lpwstr>
  </property>
  <property fmtid="{D5CDD505-2E9C-101B-9397-08002B2CF9AE}" pid="3" name="MediaServiceImageTags">
    <vt:lpwstr/>
  </property>
</Properties>
</file>